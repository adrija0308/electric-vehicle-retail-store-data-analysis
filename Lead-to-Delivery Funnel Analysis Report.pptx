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6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20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8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7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8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5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8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7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63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5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ED4A5-877A-47C0-BCEF-380F79729781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650FB-B6AE-47AC-A416-92FBEFF5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20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2F8E-23E9-4259-A076-3409C661F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ElectricPe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– Lead-to-Delivery Funnel Analysis Report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D9929-C93F-4E4B-BDCE-D739D6894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Objective: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To analyze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ElectricPe’s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lead-to-delivery funnel, identify operational bottlenecks, evaluate customer satisfaction, and recommend actions to improve conversion, delivery TAT, cancellations, and service quality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00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CBE647C-FF2A-427E-85BD-3670A9A76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088668"/>
              </p:ext>
            </p:extLst>
          </p:nvPr>
        </p:nvGraphicFramePr>
        <p:xfrm>
          <a:off x="163286" y="1077686"/>
          <a:ext cx="11870871" cy="561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957">
                  <a:extLst>
                    <a:ext uri="{9D8B030D-6E8A-4147-A177-3AD203B41FA5}">
                      <a16:colId xmlns:a16="http://schemas.microsoft.com/office/drawing/2014/main" val="658584291"/>
                    </a:ext>
                  </a:extLst>
                </a:gridCol>
                <a:gridCol w="3956957">
                  <a:extLst>
                    <a:ext uri="{9D8B030D-6E8A-4147-A177-3AD203B41FA5}">
                      <a16:colId xmlns:a16="http://schemas.microsoft.com/office/drawing/2014/main" val="4275480792"/>
                    </a:ext>
                  </a:extLst>
                </a:gridCol>
                <a:gridCol w="3956957">
                  <a:extLst>
                    <a:ext uri="{9D8B030D-6E8A-4147-A177-3AD203B41FA5}">
                      <a16:colId xmlns:a16="http://schemas.microsoft.com/office/drawing/2014/main" val="4023019614"/>
                    </a:ext>
                  </a:extLst>
                </a:gridCol>
              </a:tblGrid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METRIC/AREA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OBSERVATION (Data-Driven)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INSIGHT/IMPLICATION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580821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 err="1"/>
                        <a:t>Lead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Pre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Booking Conversion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80-82% across stores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funnel drop occurs here– early engagement crucial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459228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Pre-Booking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Booking/Delivery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≈100%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pre-booked nearly all leads convert --- strong mid-funnel process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32623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Avg TAT(Pre-</a:t>
                      </a:r>
                      <a:r>
                        <a:rPr lang="en-US" dirty="0" err="1"/>
                        <a:t>Boook</a:t>
                      </a:r>
                      <a:r>
                        <a:rPr lang="en-US" dirty="0"/>
                        <a:t>/Booking/Delivery)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3.05/3.05/4.45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Delivery stage is slowest; major contributor to overall wait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66568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Cancellations (271 total)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Price(61) + Financing(59) = 44%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and affordability are top cancellation drivers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102920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Lead Mix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Hot 30%, Warm 51%, Cold 19%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Warm Leads dominate but underperform--- key growth area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246936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High-Potential (Hot Leads)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 reached Delivery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prioritization; shows effective lead-scoring model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928037"/>
                  </a:ext>
                </a:extLst>
              </a:tr>
              <a:tr h="702129">
                <a:tc>
                  <a:txBody>
                    <a:bodyPr/>
                    <a:lstStyle/>
                    <a:p>
                      <a:r>
                        <a:rPr lang="en-US" dirty="0"/>
                        <a:t>NPS(BLR -58/CHE -46/DEL -50/MUM -58)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stores negative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Post-delivery or communication gaps lowering satisfaction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775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4EDC84B-6F58-4C1A-9053-71CC8E4F8DDA}"/>
              </a:ext>
            </a:extLst>
          </p:cNvPr>
          <p:cNvSpPr txBox="1"/>
          <p:nvPr/>
        </p:nvSpPr>
        <p:spPr>
          <a:xfrm>
            <a:off x="3494314" y="293914"/>
            <a:ext cx="7217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Lead-to-Delivery Funnel Analysis</a:t>
            </a:r>
          </a:p>
        </p:txBody>
      </p:sp>
    </p:spTree>
    <p:extLst>
      <p:ext uri="{BB962C8B-B14F-4D97-AF65-F5344CB8AC3E}">
        <p14:creationId xmlns:p14="http://schemas.microsoft.com/office/powerpoint/2010/main" val="222517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56D65D-CDE1-41DF-B7E1-7DDAF3614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863634"/>
              </p:ext>
            </p:extLst>
          </p:nvPr>
        </p:nvGraphicFramePr>
        <p:xfrm>
          <a:off x="261257" y="1028699"/>
          <a:ext cx="116586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650">
                  <a:extLst>
                    <a:ext uri="{9D8B030D-6E8A-4147-A177-3AD203B41FA5}">
                      <a16:colId xmlns:a16="http://schemas.microsoft.com/office/drawing/2014/main" val="2900703992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4123382877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380412727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70627569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FOCUS AREA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ISSUE IDENTIFIED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ACTION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IMPACT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99988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Warm Lead Conversion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Drop-off at Lead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Pre-Booking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Apply Hot Lead follow up discipline: 24-48 </a:t>
                      </a:r>
                      <a:r>
                        <a:rPr lang="en-US" dirty="0" err="1"/>
                        <a:t>hr</a:t>
                      </a:r>
                      <a:r>
                        <a:rPr lang="en-US" dirty="0"/>
                        <a:t> SLA, personalized offers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+5-10% conversion gain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62807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Cold Lead Reactivation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engagement, Low ROI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 periodic SMS/email reactivation; recycle unresponsive leads quarterly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Efficient use of sales bandwidth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0558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Delivery TAT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4.45 days = longest stage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Streamline logistics, introduce delivery exception tracking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-20% delivery time</a:t>
                      </a:r>
                      <a:r>
                        <a:rPr lang="en-IN" dirty="0"/>
                        <a:t> </a:t>
                      </a:r>
                    </a:p>
                    <a:p>
                      <a:r>
                        <a:rPr lang="en-IN" dirty="0"/>
                        <a:t>                                 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4526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Price &amp; Financing Cancellations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 leads lost to affordability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Promote EMI/finance options upfront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-20% cancellations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9369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NPS Improvement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detractor ratio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Launch 48hr callback + feedback resolution tracker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NPS from -50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245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C0E873-35F9-45EB-8439-1EFFD26842F3}"/>
              </a:ext>
            </a:extLst>
          </p:cNvPr>
          <p:cNvSpPr txBox="1"/>
          <p:nvPr/>
        </p:nvSpPr>
        <p:spPr>
          <a:xfrm>
            <a:off x="3543300" y="277588"/>
            <a:ext cx="7249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INSIGHTS AND RECOMMENDATIONS</a:t>
            </a:r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60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313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ElectricPe – Lead-to-Delivery Funnel Analysis Report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ElectricPe – Lead-to-Delivery Funnel Analysis Report</dc:title>
  <dc:creator>Adrija Mukherjee</dc:creator>
  <cp:lastModifiedBy>Adrija Mukherjee</cp:lastModifiedBy>
  <cp:revision>5</cp:revision>
  <dcterms:created xsi:type="dcterms:W3CDTF">2025-10-29T08:48:47Z</dcterms:created>
  <dcterms:modified xsi:type="dcterms:W3CDTF">2025-10-29T09:44:16Z</dcterms:modified>
</cp:coreProperties>
</file>